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9" r:id="rId12"/>
    <p:sldId id="270" r:id="rId13"/>
    <p:sldId id="265" r:id="rId14"/>
  </p:sldIdLst>
  <p:sldSz cx="14630400" cy="8229600"/>
  <p:notesSz cx="8229600" cy="14630400"/>
  <p:embeddedFontLst>
    <p:embeddedFont>
      <p:font typeface="IBM Plex Sans Medium" panose="020B0603050203000203" pitchFamily="34" charset="0"/>
      <p:regular r:id="rId16"/>
      <p:italic r:id="rId17"/>
    </p:embeddedFont>
    <p:embeddedFont>
      <p:font typeface="Roboto" panose="02000000000000000000" pitchFamily="2" charset="0"/>
      <p:regular r:id="rId18"/>
      <p:bold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667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>
              <a:alpha val="8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864037" y="2196346"/>
            <a:ext cx="12902327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Разработка мобильного приложения-викторины «Якутские пословицы и поговорки»</a:t>
            </a:r>
            <a:endParaRPr lang="en-US" sz="4850" dirty="0"/>
          </a:p>
        </p:txBody>
      </p:sp>
      <p:sp>
        <p:nvSpPr>
          <p:cNvPr id="5" name="Text 2"/>
          <p:cNvSpPr/>
          <p:nvPr/>
        </p:nvSpPr>
        <p:spPr>
          <a:xfrm>
            <a:off x="864037" y="4881205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Якутск, 2026 г.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3858" y="5553908"/>
            <a:ext cx="4756904" cy="479346"/>
          </a:xfrm>
          <a:prstGeom prst="roundRect">
            <a:avLst>
              <a:gd name="adj" fmla="val 6181"/>
            </a:avLst>
          </a:prstGeom>
          <a:noFill/>
          <a:ln w="7620">
            <a:solidFill>
              <a:srgbClr val="FFBC8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1019591" y="5646538"/>
            <a:ext cx="4445437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UNITY · МОБИЛЬНАЯ РАЗРАБОТКА · ФОЛЬКЛОР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9CCAC05-FCAF-4BF7-92A0-DC43E235600D}"/>
              </a:ext>
            </a:extLst>
          </p:cNvPr>
          <p:cNvSpPr/>
          <p:nvPr/>
        </p:nvSpPr>
        <p:spPr>
          <a:xfrm>
            <a:off x="12701116" y="7636747"/>
            <a:ext cx="1848897" cy="5124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908182" y="330102"/>
            <a:ext cx="6898124" cy="456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4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Актуальность исследования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077816" y="1336432"/>
            <a:ext cx="5835449" cy="6370654"/>
          </a:xfrm>
          <a:prstGeom prst="roundRect">
            <a:avLst>
              <a:gd name="adj" fmla="val 473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320967" y="1562594"/>
            <a:ext cx="1827252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Проблема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570571" y="1952696"/>
            <a:ext cx="5182177" cy="376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эпоху цифровизации и глобализации перед малыми народами России остро встаёт проблема сохранения и передачи подрастающему поколению национального культурного кода. Якутский язык является не просто средством коммуникации, но и хранилищем многовекового опыта, мировоззрения и системы ценностей народа.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70571" y="5259653"/>
            <a:ext cx="5182177" cy="1883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Как отмечают исследователи Н.М. Борисова и Г.Р. Галиуллина, «слова-символы самобытной культуры народа саха в медиатекстах представляют собой безэквивалентную лексику, аналоги которой отсутствуют в других языках».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02834" y="1562594"/>
            <a:ext cx="2862262" cy="228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3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Цифровой вызов и возможность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04539" y="1862849"/>
            <a:ext cx="6192331" cy="1675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Традиционные формы передачи фольклорного наследия — устная речь и печатные издания — теряют эффективность в условиях доминирования цифровых форматов досуга. Современная молодёжь всё больше времени проводит в мобильных устройствах, что создаёт уникальную возможность для трансляции культурных ценностей через игровые и интерактивные форматы.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04539" y="4733020"/>
            <a:ext cx="6192331" cy="1117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Исследования Арктического государственного института культуры и искусств подчёркивают: «сегодня мы стоим на пороге новой фольклорной традиции — цифровой... наша цель — перевести все наследие в цифровую форму, чтобы и в XXII веке культурное наследие продолжало звучать».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402834" y="6694705"/>
            <a:ext cx="6885922" cy="1204793"/>
          </a:xfrm>
          <a:prstGeom prst="roundRect">
            <a:avLst>
              <a:gd name="adj" fmla="val 1820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992" y="6771657"/>
            <a:ext cx="556504" cy="22971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77654" y="6817577"/>
            <a:ext cx="5682743" cy="931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 мобильного приложения-викторины позволяет объединить образовательную функцию с игровой механикой, повышая мотивацию к изучению пословиц.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485" y="795539"/>
            <a:ext cx="576798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4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Цель и гипотеза исследования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033724" y="2492746"/>
            <a:ext cx="4614719" cy="2725017"/>
          </a:xfrm>
          <a:prstGeom prst="roundRect">
            <a:avLst>
              <a:gd name="adj" fmla="val 1086"/>
            </a:avLst>
          </a:prstGeom>
          <a:solidFill>
            <a:srgbClr val="292C32"/>
          </a:solidFill>
          <a:ln w="1524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1028423" y="2476859"/>
            <a:ext cx="4620020" cy="489860"/>
          </a:xfrm>
          <a:prstGeom prst="roundRect">
            <a:avLst>
              <a:gd name="adj" fmla="val 62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3112011" y="2682697"/>
            <a:ext cx="245003" cy="370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3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92561" y="3170124"/>
            <a:ext cx="2041953" cy="3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Цель работы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92561" y="3530603"/>
            <a:ext cx="4247923" cy="94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 приложения-викторины «Якутские пословицы и поговорки» на платформе Unity.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787032" y="2479861"/>
            <a:ext cx="7809644" cy="2737901"/>
          </a:xfrm>
          <a:prstGeom prst="roundRect">
            <a:avLst>
              <a:gd name="adj" fmla="val 1086"/>
            </a:avLst>
          </a:prstGeom>
          <a:solidFill>
            <a:srgbClr val="292C32"/>
          </a:solidFill>
          <a:ln w="1524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5787032" y="2479862"/>
            <a:ext cx="7809644" cy="487149"/>
          </a:xfrm>
          <a:prstGeom prst="roundRect">
            <a:avLst>
              <a:gd name="adj" fmla="val 62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9423950" y="2709849"/>
            <a:ext cx="267903" cy="256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3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55005" y="3017322"/>
            <a:ext cx="2678697" cy="292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Гипотеза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981265" y="3482160"/>
            <a:ext cx="7375139" cy="134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Предполагается, что разработка кроссплатформенного мобильного приложения-викторины на базе Unity, содержащего систематизированную базу якутских пословиц с их толкованием, позволит повысить интерес молодёжи к изучению родного языка и культурного наследия.</a:t>
            </a:r>
            <a:endParaRPr lang="en-US" sz="20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5952" y="7842167"/>
            <a:ext cx="185142" cy="185142"/>
          </a:xfrm>
          <a:prstGeom prst="rect">
            <a:avLst/>
          </a:prstGeom>
        </p:spPr>
      </p:pic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99CA0BF4-71A3-4680-A21E-2C1484DADD9D}"/>
              </a:ext>
            </a:extLst>
          </p:cNvPr>
          <p:cNvSpPr/>
          <p:nvPr/>
        </p:nvSpPr>
        <p:spPr>
          <a:xfrm>
            <a:off x="12701116" y="7636747"/>
            <a:ext cx="1848897" cy="5124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1">
            <a:extLst>
              <a:ext uri="{FF2B5EF4-FFF2-40B4-BE49-F238E27FC236}">
                <a16:creationId xmlns:a16="http://schemas.microsoft.com/office/drawing/2014/main" id="{804BE0F9-B5CE-49B1-B475-D6FDCC61A818}"/>
              </a:ext>
            </a:extLst>
          </p:cNvPr>
          <p:cNvSpPr/>
          <p:nvPr/>
        </p:nvSpPr>
        <p:spPr>
          <a:xfrm>
            <a:off x="1069709" y="1382938"/>
            <a:ext cx="3648275" cy="153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Задачи исследования</a:t>
            </a:r>
            <a:endParaRPr lang="en-US" sz="24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12EDD71-FA94-4A19-B474-CD86BF1688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709" y="1844754"/>
            <a:ext cx="185142" cy="185142"/>
          </a:xfrm>
          <a:prstGeom prst="rect">
            <a:avLst/>
          </a:prstGeom>
        </p:spPr>
      </p:pic>
      <p:sp>
        <p:nvSpPr>
          <p:cNvPr id="4" name="Text 22">
            <a:extLst>
              <a:ext uri="{FF2B5EF4-FFF2-40B4-BE49-F238E27FC236}">
                <a16:creationId xmlns:a16="http://schemas.microsoft.com/office/drawing/2014/main" id="{C9F12A80-A6D3-44D5-9E47-7CE8A0176DB4}"/>
              </a:ext>
            </a:extLst>
          </p:cNvPr>
          <p:cNvSpPr/>
          <p:nvPr/>
        </p:nvSpPr>
        <p:spPr>
          <a:xfrm>
            <a:off x="1424516" y="1838682"/>
            <a:ext cx="6635234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Анализ жанровой специфики якутских пословиц</a:t>
            </a:r>
            <a:endParaRPr lang="en-US" sz="2000" dirty="0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1D4CC8AC-4155-4BDE-9407-0E92DD35D2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709" y="2344459"/>
            <a:ext cx="185142" cy="185142"/>
          </a:xfrm>
          <a:prstGeom prst="rect">
            <a:avLst/>
          </a:prstGeom>
        </p:spPr>
      </p:pic>
      <p:sp>
        <p:nvSpPr>
          <p:cNvPr id="6" name="Text 23">
            <a:extLst>
              <a:ext uri="{FF2B5EF4-FFF2-40B4-BE49-F238E27FC236}">
                <a16:creationId xmlns:a16="http://schemas.microsoft.com/office/drawing/2014/main" id="{C7E95BC6-DE47-49CC-B276-206B348C96E3}"/>
              </a:ext>
            </a:extLst>
          </p:cNvPr>
          <p:cNvSpPr/>
          <p:nvPr/>
        </p:nvSpPr>
        <p:spPr>
          <a:xfrm>
            <a:off x="1424516" y="2338387"/>
            <a:ext cx="6635234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Сравнительный анализ движков разработки мобильных приложений</a:t>
            </a:r>
            <a:endParaRPr lang="en-US" sz="2000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08B56B0F-1808-4647-961B-9B9BC590AE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709" y="2844164"/>
            <a:ext cx="185142" cy="185142"/>
          </a:xfrm>
          <a:prstGeom prst="rect">
            <a:avLst/>
          </a:prstGeom>
        </p:spPr>
      </p:pic>
      <p:sp>
        <p:nvSpPr>
          <p:cNvPr id="8" name="Text 24">
            <a:extLst>
              <a:ext uri="{FF2B5EF4-FFF2-40B4-BE49-F238E27FC236}">
                <a16:creationId xmlns:a16="http://schemas.microsoft.com/office/drawing/2014/main" id="{CEB16F1D-4335-496A-8C2A-EA0EB328287A}"/>
              </a:ext>
            </a:extLst>
          </p:cNvPr>
          <p:cNvSpPr/>
          <p:nvPr/>
        </p:nvSpPr>
        <p:spPr>
          <a:xfrm>
            <a:off x="1424516" y="2838092"/>
            <a:ext cx="6635234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Обзор базовых технологий Unity</a:t>
            </a:r>
            <a:endParaRPr lang="en-US" sz="2000" dirty="0"/>
          </a:p>
        </p:txBody>
      </p:sp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A48178EF-16E9-4D2C-AEB4-5D388964CC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709" y="3343870"/>
            <a:ext cx="185142" cy="185142"/>
          </a:xfrm>
          <a:prstGeom prst="rect">
            <a:avLst/>
          </a:prstGeom>
        </p:spPr>
      </p:pic>
      <p:sp>
        <p:nvSpPr>
          <p:cNvPr id="10" name="Text 25">
            <a:extLst>
              <a:ext uri="{FF2B5EF4-FFF2-40B4-BE49-F238E27FC236}">
                <a16:creationId xmlns:a16="http://schemas.microsoft.com/office/drawing/2014/main" id="{49FE0ED1-409E-482F-9248-F05ABDCE5B74}"/>
              </a:ext>
            </a:extLst>
          </p:cNvPr>
          <p:cNvSpPr/>
          <p:nvPr/>
        </p:nvSpPr>
        <p:spPr>
          <a:xfrm>
            <a:off x="1424516" y="3337797"/>
            <a:ext cx="6635234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Проектирование структуры приложения</a:t>
            </a:r>
            <a:endParaRPr lang="en-US" sz="2000" dirty="0"/>
          </a:p>
        </p:txBody>
      </p:sp>
      <p:sp>
        <p:nvSpPr>
          <p:cNvPr id="11" name="Text 26">
            <a:extLst>
              <a:ext uri="{FF2B5EF4-FFF2-40B4-BE49-F238E27FC236}">
                <a16:creationId xmlns:a16="http://schemas.microsoft.com/office/drawing/2014/main" id="{A26A930D-F507-4130-8AC3-083B989B2515}"/>
              </a:ext>
            </a:extLst>
          </p:cNvPr>
          <p:cNvSpPr/>
          <p:nvPr/>
        </p:nvSpPr>
        <p:spPr>
          <a:xfrm>
            <a:off x="1424516" y="3864036"/>
            <a:ext cx="6635234" cy="148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Реализация и тестирование приложения</a:t>
            </a:r>
            <a:endParaRPr lang="en-US" sz="200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436EFD2F-E826-4A5F-A789-62DF7D18DE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9709" y="3808640"/>
            <a:ext cx="185142" cy="185142"/>
          </a:xfrm>
          <a:prstGeom prst="rect">
            <a:avLst/>
          </a:prstGeom>
        </p:spPr>
      </p:pic>
      <p:sp>
        <p:nvSpPr>
          <p:cNvPr id="13" name="Shape 11">
            <a:extLst>
              <a:ext uri="{FF2B5EF4-FFF2-40B4-BE49-F238E27FC236}">
                <a16:creationId xmlns:a16="http://schemas.microsoft.com/office/drawing/2014/main" id="{D7400869-CD1B-434F-B7C7-7FECEC460AE5}"/>
              </a:ext>
            </a:extLst>
          </p:cNvPr>
          <p:cNvSpPr/>
          <p:nvPr/>
        </p:nvSpPr>
        <p:spPr>
          <a:xfrm>
            <a:off x="1013130" y="4526364"/>
            <a:ext cx="4620020" cy="2801074"/>
          </a:xfrm>
          <a:prstGeom prst="roundRect">
            <a:avLst>
              <a:gd name="adj" fmla="val 1315"/>
            </a:avLst>
          </a:prstGeom>
          <a:solidFill>
            <a:srgbClr val="292C32"/>
          </a:solidFill>
          <a:ln w="1524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AC83FC83-26C1-4717-B73D-E65F364A6DEE}"/>
              </a:ext>
            </a:extLst>
          </p:cNvPr>
          <p:cNvSpPr/>
          <p:nvPr/>
        </p:nvSpPr>
        <p:spPr>
          <a:xfrm>
            <a:off x="1069709" y="5150648"/>
            <a:ext cx="214951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Объект исследования</a:t>
            </a:r>
            <a:endParaRPr lang="en-US" sz="24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597C37BB-D933-4919-9205-87FB481ABC5A}"/>
              </a:ext>
            </a:extLst>
          </p:cNvPr>
          <p:cNvSpPr/>
          <p:nvPr/>
        </p:nvSpPr>
        <p:spPr>
          <a:xfrm>
            <a:off x="1180659" y="5409296"/>
            <a:ext cx="4332443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Малые жанры якутского фольклора, а именно пословицы народа саха (өс хоһооно), как элемент культурного наследия и носитель этнического мировоззрения.</a:t>
            </a:r>
            <a:endParaRPr lang="en-US" sz="200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A2DC7F61-7DA9-4B24-A448-4DD8882D15F1}"/>
              </a:ext>
            </a:extLst>
          </p:cNvPr>
          <p:cNvSpPr/>
          <p:nvPr/>
        </p:nvSpPr>
        <p:spPr>
          <a:xfrm>
            <a:off x="5800604" y="4526364"/>
            <a:ext cx="7852135" cy="2791540"/>
          </a:xfrm>
          <a:prstGeom prst="roundRect">
            <a:avLst>
              <a:gd name="adj" fmla="val 1315"/>
            </a:avLst>
          </a:prstGeom>
          <a:solidFill>
            <a:srgbClr val="292C32"/>
          </a:solidFill>
          <a:ln w="1524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9F33CB3E-9A8F-4F92-B0C2-63F7371EBF49}"/>
              </a:ext>
            </a:extLst>
          </p:cNvPr>
          <p:cNvSpPr/>
          <p:nvPr/>
        </p:nvSpPr>
        <p:spPr>
          <a:xfrm>
            <a:off x="5815895" y="4526364"/>
            <a:ext cx="7821551" cy="418052"/>
          </a:xfrm>
          <a:prstGeom prst="roundRect">
            <a:avLst>
              <a:gd name="adj" fmla="val 62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D6854B55-3DF5-41E6-9E02-DA5BF36902C3}"/>
              </a:ext>
            </a:extLst>
          </p:cNvPr>
          <p:cNvSpPr/>
          <p:nvPr/>
        </p:nvSpPr>
        <p:spPr>
          <a:xfrm>
            <a:off x="9546113" y="4706060"/>
            <a:ext cx="361113" cy="354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3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B9D425AB-5DB4-4171-96B8-7D529FEED1DC}"/>
              </a:ext>
            </a:extLst>
          </p:cNvPr>
          <p:cNvSpPr/>
          <p:nvPr/>
        </p:nvSpPr>
        <p:spPr>
          <a:xfrm>
            <a:off x="6045242" y="5312276"/>
            <a:ext cx="2509330" cy="295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Предмет исследования</a:t>
            </a:r>
            <a:endParaRPr lang="en-US" sz="24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3E68847C-CFB9-4423-9A35-64D847667C3C}"/>
              </a:ext>
            </a:extLst>
          </p:cNvPr>
          <p:cNvSpPr/>
          <p:nvPr/>
        </p:nvSpPr>
        <p:spPr>
          <a:xfrm>
            <a:off x="5965972" y="5657722"/>
            <a:ext cx="7615411" cy="15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Процесс разработки мобильного приложения-викторины на платформе Unity, предназначенного для изучения и популяризации якутских пословиц через интерактивную игровую механику.</a:t>
            </a:r>
            <a:endParaRPr lang="en-US" sz="2000" dirty="0"/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0C4B0D16-D78D-4A50-8DE5-B939AC4ADACD}"/>
              </a:ext>
            </a:extLst>
          </p:cNvPr>
          <p:cNvSpPr/>
          <p:nvPr/>
        </p:nvSpPr>
        <p:spPr>
          <a:xfrm>
            <a:off x="1013130" y="4526364"/>
            <a:ext cx="4604781" cy="418052"/>
          </a:xfrm>
          <a:prstGeom prst="roundRect">
            <a:avLst>
              <a:gd name="adj" fmla="val 62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AA679BDC-FE73-48D9-B3BF-FE96262DA9CA}"/>
              </a:ext>
            </a:extLst>
          </p:cNvPr>
          <p:cNvSpPr/>
          <p:nvPr/>
        </p:nvSpPr>
        <p:spPr>
          <a:xfrm>
            <a:off x="3092359" y="4727389"/>
            <a:ext cx="24528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3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3B153EB6-45BF-4716-8106-1B0BA82024A3}"/>
              </a:ext>
            </a:extLst>
          </p:cNvPr>
          <p:cNvSpPr/>
          <p:nvPr/>
        </p:nvSpPr>
        <p:spPr>
          <a:xfrm>
            <a:off x="478181" y="346708"/>
            <a:ext cx="9995855" cy="444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ru-RU" sz="4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Задачи, объект </a:t>
            </a:r>
            <a:r>
              <a:rPr lang="en-US" sz="4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и </a:t>
            </a:r>
            <a:r>
              <a:rPr lang="ru-RU" sz="4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предмет </a:t>
            </a:r>
            <a:r>
              <a:rPr lang="en-US" sz="4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исследования</a:t>
            </a:r>
            <a:endParaRPr lang="en-US" sz="4000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C0D3AA5-3B86-460B-BE25-72C93489244C}"/>
              </a:ext>
            </a:extLst>
          </p:cNvPr>
          <p:cNvSpPr/>
          <p:nvPr/>
        </p:nvSpPr>
        <p:spPr>
          <a:xfrm>
            <a:off x="12701116" y="7636747"/>
            <a:ext cx="1848897" cy="5124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789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30585E5-A0E8-47EF-A149-43E78F259CCF}"/>
              </a:ext>
            </a:extLst>
          </p:cNvPr>
          <p:cNvSpPr/>
          <p:nvPr/>
        </p:nvSpPr>
        <p:spPr>
          <a:xfrm>
            <a:off x="12701116" y="7636747"/>
            <a:ext cx="1848897" cy="5124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454679" y="335498"/>
            <a:ext cx="11056025" cy="620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Малые жанры фольклора народа саха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37563" y="1165829"/>
            <a:ext cx="12075051" cy="1858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системе традиционной духовной культуры народа саха фольклор занимает центральное место, выступая не только формой эстетического самовыражения, но и механизмом трансляции этнического мировоззрения, этических норм и исторической памяти. В отличие от героического эпоса олонхо, признанного ЮНЕСКО шедевром устного нематериального наследия человечества, малые жанры представляют собой лаконичные, но семиотически насыщенные тексты.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216938" y="3710100"/>
            <a:ext cx="3665815" cy="4184001"/>
          </a:xfrm>
          <a:prstGeom prst="roundRect">
            <a:avLst>
              <a:gd name="adj" fmla="val 962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1260534" y="3868277"/>
            <a:ext cx="319556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Пословицы (өс хоһооно)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39788" y="4352797"/>
            <a:ext cx="3195567" cy="3245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Концентрированное выражение народной мудрости, фиксирующее оценочные суждения о труде, семье и моральном облике. Отличаются двухчастной композицией, бинарностью, параллелизмом и аллитерацией.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42297" y="3710100"/>
            <a:ext cx="3665934" cy="4184001"/>
          </a:xfrm>
          <a:prstGeom prst="roundRect">
            <a:avLst>
              <a:gd name="adj" fmla="val 962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129525" y="3868277"/>
            <a:ext cx="275355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Загадки (таабырын)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65133" y="4352797"/>
            <a:ext cx="3195683" cy="3709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Жанр с глубокими мифологическими корнями. Сохраняет следы древнего магического табу. Классификация С.П. Ойунской насчитывает более двух тысяч вариантов, развивающих ассоциативное мышление.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858851" y="3710100"/>
            <a:ext cx="4153763" cy="4184001"/>
          </a:xfrm>
          <a:prstGeom prst="roundRect">
            <a:avLst>
              <a:gd name="adj" fmla="val 962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895227" y="3868277"/>
            <a:ext cx="335910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Скороговорки (чабыргах)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90625" y="4352797"/>
            <a:ext cx="3651168" cy="3245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Ритмизованные произведения сатирического содержания, построенные на аллитерации. Демонстрируют высший уровень вербальной техники. Требуют дополнительных мер по фиксации и популяризации.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0527EF8B-3005-4F94-9F53-320BFEC05873}"/>
              </a:ext>
            </a:extLst>
          </p:cNvPr>
          <p:cNvSpPr/>
          <p:nvPr/>
        </p:nvSpPr>
        <p:spPr>
          <a:xfrm>
            <a:off x="12701116" y="7636747"/>
            <a:ext cx="1848897" cy="5124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954594" y="428350"/>
            <a:ext cx="12670971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Паремиологический фонд: структура и функции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15123" y="1397677"/>
            <a:ext cx="12365786" cy="79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Пословицы и поговорки народа саха представляют собой концентрированное выражение народной мудрости. Как отмечает исследователь С.П. Ойунская, паремии якутов отличает ярко выраженная полярность оценок (добро — зло, труд — лень, щедрость — скупость), что коррелирует с бинарной оппозицией, лежащей в основе архаического мировоззрения. Важной особенностью якутских паремий является их ритмическая организованность и наличие аллитерации, что сближает их с поэтическими формами и способствует лёгкому запоминанию.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15123" y="3626477"/>
            <a:ext cx="12365786" cy="3117170"/>
          </a:xfrm>
          <a:prstGeom prst="roundRect">
            <a:avLst>
              <a:gd name="adj" fmla="val 73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1315122" y="3649337"/>
            <a:ext cx="12365785" cy="2569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505890" y="3712348"/>
            <a:ext cx="1588889" cy="159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20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Категория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573173" y="3721847"/>
            <a:ext cx="2548771" cy="11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20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Основные характеристики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84443" y="3729658"/>
            <a:ext cx="2478405" cy="159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20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Примеры / Пояснения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15122" y="3906273"/>
            <a:ext cx="12365785" cy="8198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1505890" y="4048937"/>
            <a:ext cx="1588889" cy="159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Структура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85548" y="3939850"/>
            <a:ext cx="4764018" cy="318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Двухчастная композиция, бинарность, параллелизм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994616" y="3897821"/>
            <a:ext cx="5781675" cy="477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Пословица часто состоит из двух частей, противопоставляющих или дополняющих друг друга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315122" y="4481822"/>
            <a:ext cx="12365785" cy="4162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1505890" y="4592354"/>
            <a:ext cx="1588889" cy="159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Фонетика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85548" y="4515398"/>
            <a:ext cx="4764018" cy="159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Ритм, рифма, аллитерация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994616" y="4473369"/>
            <a:ext cx="5781675" cy="318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Фонетические приёмы для усиления выразительности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315122" y="4898065"/>
            <a:ext cx="12365785" cy="5929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1505890" y="5045393"/>
            <a:ext cx="1588889" cy="226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Тематика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85548" y="4931640"/>
            <a:ext cx="4764018" cy="318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Природные условия, хозяйственная деятельность, социальные отношения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994616" y="4889611"/>
            <a:ext cx="5781675" cy="318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Отражение жизни и культуры якутского народа через образные выражения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315122" y="5516688"/>
            <a:ext cx="12365785" cy="5755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1505890" y="5645209"/>
            <a:ext cx="1588889" cy="159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Стилистика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85548" y="5550264"/>
            <a:ext cx="4764018" cy="318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Метафоры, сравнения, гиперболы, эпитеты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994616" y="5508235"/>
            <a:ext cx="5781675" cy="477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Использование образных средств языка для усиления эмоционального воздействия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315122" y="6092236"/>
            <a:ext cx="12365785" cy="65141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1505890" y="6192367"/>
            <a:ext cx="1588889" cy="159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Функции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285548" y="6125812"/>
            <a:ext cx="4764018" cy="318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Дидактическая, нормативная, утилитарная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994616" y="6083783"/>
            <a:ext cx="5781675" cy="318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Пословицы служат для передачи жизненного опыта и культурных норм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54595" y="7082675"/>
            <a:ext cx="13062856" cy="869606"/>
          </a:xfrm>
          <a:prstGeom prst="roundRect">
            <a:avLst>
              <a:gd name="adj" fmla="val 3575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886" y="7225344"/>
            <a:ext cx="465970" cy="32083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704374" y="7193207"/>
            <a:ext cx="12071916" cy="784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Пример:</a:t>
            </a:r>
            <a:r>
              <a:rPr lang="en-US" sz="2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«Үлэлээҕи — сыа, утуйааҕы — уу» («Работающему — жир, спящему — вода»), где противопоставление «жир/вода» выступает метафорой достатка и пустоты.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2734" y="669879"/>
            <a:ext cx="6835140" cy="395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4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Сравнительный анализ движков разработки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95051" y="1389824"/>
            <a:ext cx="10353675" cy="1006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объективного сравнения движков были выделены ключевые критерии: графические возможности, язык программирования, кроссплатформенность, порог входа, производительность, лицензирование и экосистема.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73480" y="2748439"/>
            <a:ext cx="11859232" cy="3984904"/>
          </a:xfrm>
          <a:prstGeom prst="roundRect">
            <a:avLst>
              <a:gd name="adj" fmla="val 97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1189623" y="2790349"/>
            <a:ext cx="11875376" cy="71657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293963" y="3058482"/>
            <a:ext cx="1183958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Критерий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83665" y="3048268"/>
            <a:ext cx="892016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13300" y="3058483"/>
            <a:ext cx="892016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Unreal Engine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525802" y="3048269"/>
            <a:ext cx="892016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Godot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319040" y="3058484"/>
            <a:ext cx="892016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Flutter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25048" y="2971653"/>
            <a:ext cx="895826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Native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95051" y="3539210"/>
            <a:ext cx="11875376" cy="6729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1321733" y="3859128"/>
            <a:ext cx="1183958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Графика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83665" y="3546016"/>
            <a:ext cx="1489841" cy="66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2D (отл.), 3D (хор.)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08693" y="3546016"/>
            <a:ext cx="1468269" cy="306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3D AAA, 2D слабо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566644" y="3514096"/>
            <a:ext cx="1468269" cy="306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2D (отл.), 3D удовл.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340612" y="3561752"/>
            <a:ext cx="1468269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UI рендеринг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47860" y="3552775"/>
            <a:ext cx="1474540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Нативные UI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211195" y="4215551"/>
            <a:ext cx="11859232" cy="4243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1315535" y="4392894"/>
            <a:ext cx="1183958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Язык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734298" y="4392895"/>
            <a:ext cx="892016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C#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37754" y="4400297"/>
            <a:ext cx="892016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C++, Blueprints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47374" y="4385956"/>
            <a:ext cx="892016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GDScript, C#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369673" y="4400297"/>
            <a:ext cx="892016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Dart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476920" y="4400297"/>
            <a:ext cx="895826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JS / TS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195051" y="4639911"/>
            <a:ext cx="11859234" cy="6729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1321734" y="4695177"/>
            <a:ext cx="2280794" cy="306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Кроссплатформенность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734298" y="4653362"/>
            <a:ext cx="1776285" cy="306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iOS, Android, ПК, Web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642353" y="4655558"/>
            <a:ext cx="1776285" cy="306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iOS, Android, ПК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547374" y="4643314"/>
            <a:ext cx="1776285" cy="306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iOS, Android, ПК, Web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405430" y="4668495"/>
            <a:ext cx="1776285" cy="306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iOS, Android, Web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1480810" y="4695534"/>
            <a:ext cx="1783872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iOS, Android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195053" y="5332379"/>
            <a:ext cx="11859232" cy="4545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1321734" y="5483032"/>
            <a:ext cx="1948809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Порог</a:t>
            </a:r>
            <a:r>
              <a:rPr lang="en-US" sz="9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входа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734298" y="5483032"/>
            <a:ext cx="1468269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Низкий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637754" y="5478556"/>
            <a:ext cx="1468269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Высокий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601831" y="5483894"/>
            <a:ext cx="1468269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Низкий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405430" y="5485499"/>
            <a:ext cx="1468269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Средний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1480810" y="5477384"/>
            <a:ext cx="1474540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Низкий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1195052" y="5819148"/>
            <a:ext cx="11859232" cy="91419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Text 39"/>
          <p:cNvSpPr/>
          <p:nvPr/>
        </p:nvSpPr>
        <p:spPr>
          <a:xfrm>
            <a:off x="1321734" y="6199628"/>
            <a:ext cx="1183958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Лицензирование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705237" y="5969778"/>
            <a:ext cx="1284712" cy="306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Бесплатно до $200k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637754" y="5933096"/>
            <a:ext cx="1830120" cy="306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Бесплатно до $1 млн; 5%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611211" y="5962550"/>
            <a:ext cx="1497715" cy="306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— бесплатно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9369673" y="5962550"/>
            <a:ext cx="892016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Apache 2.0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1476920" y="6018935"/>
            <a:ext cx="895826" cy="153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</a:t>
            </a:r>
            <a:endParaRPr lang="en-US" sz="2000" dirty="0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D75BE89B-3118-4345-BC74-2ECD7113E289}"/>
              </a:ext>
            </a:extLst>
          </p:cNvPr>
          <p:cNvSpPr/>
          <p:nvPr/>
        </p:nvSpPr>
        <p:spPr>
          <a:xfrm>
            <a:off x="12701116" y="7636747"/>
            <a:ext cx="1848897" cy="5124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942" y="463332"/>
            <a:ext cx="5365194" cy="536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Базовые технологии Unity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78103" y="1007569"/>
            <a:ext cx="12589125" cy="697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Фундаментом Unity является объектно-компонентная архитектура. В отличие от традиционного ООП, Unity использует принцип композиции: функциональность описывается не через иерархии наследования, а через добавление компонентов к базовым объектам.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587" y="2123388"/>
            <a:ext cx="428863" cy="4288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7587" y="2701199"/>
            <a:ext cx="2144673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GameObject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137586" y="3090698"/>
            <a:ext cx="5936453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Базовый контейнер, который сам по себе не содержит функциональности. Это «пустой объект», существующий в сцене. Каждый GameObject обязательно имеет компонент Transform, определяющий положение, поворот и масштаб объекта.</a:t>
            </a:r>
            <a:endParaRPr lang="en-US" sz="2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0776" y="2123388"/>
            <a:ext cx="428863" cy="4288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30776" y="2701199"/>
            <a:ext cx="2144673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Component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630775" y="3090698"/>
            <a:ext cx="5936453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Модуль, добавляемый к GameObject для наделения его конкретной функциональностью. Разработчик «навешивает» компоненты: MeshRenderer для визуализации, Rigidbody для физики, пользовательские скрипты для управления.</a:t>
            </a:r>
            <a:endParaRPr lang="en-US" sz="2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7587" y="5109100"/>
            <a:ext cx="428863" cy="4288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37587" y="5686911"/>
            <a:ext cx="2144673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Canvas и UI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137587" y="6041415"/>
            <a:ext cx="4815602" cy="930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Компонент Canvas создаёт область рендеринга для всех UI-элементов. Поддерживает три режима: Screen Space — Overlay, Screen Space — Camera и World Space. Основные элементы: Panel, TextMeshPro, Button, Image.</a:t>
            </a:r>
            <a:endParaRPr lang="en-US" sz="2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9969" y="5109100"/>
            <a:ext cx="428863" cy="42886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29969" y="5657145"/>
            <a:ext cx="2144673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TextMeshPro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7630776" y="6044337"/>
            <a:ext cx="5936452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Современная альтернатива устаревшему компоненту Text. Обеспечивает высокое качество рендеринга текста, поддержку различных шрифтов (включая кириллицу) и расширенное форматирование. Используется шрифт Roboto-Bold SDF.</a:t>
            </a:r>
            <a:endParaRPr lang="en-US" sz="20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77F7068-77DA-4D26-9880-64049B9964F3}"/>
              </a:ext>
            </a:extLst>
          </p:cNvPr>
          <p:cNvSpPr/>
          <p:nvPr/>
        </p:nvSpPr>
        <p:spPr>
          <a:xfrm>
            <a:off x="12701116" y="7636747"/>
            <a:ext cx="1848897" cy="5124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0D31E35-E5B3-447C-B606-1EBADF11AB70}"/>
              </a:ext>
            </a:extLst>
          </p:cNvPr>
          <p:cNvSpPr/>
          <p:nvPr/>
        </p:nvSpPr>
        <p:spPr>
          <a:xfrm>
            <a:off x="12701116" y="7636747"/>
            <a:ext cx="1848897" cy="5124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658098" y="587189"/>
            <a:ext cx="7636788" cy="446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4000" dirty="0" err="1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Разработка</a:t>
            </a:r>
            <a:r>
              <a:rPr lang="en-US" sz="4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ru-RU" sz="4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приложения-</a:t>
            </a:r>
            <a:r>
              <a:rPr lang="en-US" sz="4000" dirty="0" err="1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викторины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098" y="1111210"/>
            <a:ext cx="12756451" cy="361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 интерфейса приложения осуществлялась поэтапно: от создания проекта до финальной компоновки всех экранов. Были реализованы главное меню, экран выбора уровня, панель викторины и экран результатов.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27" y="1696923"/>
            <a:ext cx="12471918" cy="33115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84958" y="2720720"/>
            <a:ext cx="1673617" cy="336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Настройка проекта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165590" y="3259754"/>
            <a:ext cx="2296614" cy="556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Создать проект, выбрать Universal 2D, настроить Canvas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08272" y="2722761"/>
            <a:ext cx="1673617" cy="168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Фон и Canvas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688904" y="3041297"/>
            <a:ext cx="2296614" cy="556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Установить Render Mode и Canvas Scaler, 1920x1080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426105" y="2818814"/>
            <a:ext cx="1673617" cy="168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Панели меню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106737" y="3137350"/>
            <a:ext cx="2296614" cy="417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Создать Menu, Settings и выбор уровня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168196" y="2701008"/>
            <a:ext cx="1673617" cy="336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Экраны викторины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848828" y="3240042"/>
            <a:ext cx="2296614" cy="556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Панель Викторина и результат с оценкой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42338" y="4640234"/>
            <a:ext cx="13075578" cy="541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Все UI-элементы были настроены с учётом адаптивности: использован Canvas Scaler с режимом Scale With Screen Size и Reference Resolution 1920×1080. Для обеспечения корректного отображения кириллического текста был выбран шрифт Roboto-Bold SDF в компоненте TextMeshPro.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35192" y="5660934"/>
            <a:ext cx="3949167" cy="22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Структура экранов приложения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96342" y="6093912"/>
            <a:ext cx="5611469" cy="119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7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Game</a:t>
            </a: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главная сцена с фоном</a:t>
            </a:r>
            <a:endParaRPr lang="en-US" sz="1700" dirty="0"/>
          </a:p>
          <a:p>
            <a:pPr marL="342900" indent="-342900" algn="l">
              <a:buSzPct val="100000"/>
              <a:buChar char="•"/>
            </a:pPr>
            <a:r>
              <a:rPr lang="en-US" sz="17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Menu</a:t>
            </a: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главное меню с панелью настроек</a:t>
            </a:r>
            <a:endParaRPr lang="en-US" sz="1700" dirty="0"/>
          </a:p>
          <a:p>
            <a:pPr marL="342900" indent="-342900" algn="just">
              <a:buSzPct val="100000"/>
              <a:buChar char="•"/>
            </a:pPr>
            <a:r>
              <a:rPr lang="en-US" sz="17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Level Selection</a:t>
            </a: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выбор категории (Пословицы, Поговорки)</a:t>
            </a:r>
            <a:endParaRPr lang="en-US" sz="1700" dirty="0"/>
          </a:p>
          <a:p>
            <a:pPr marL="342900" indent="-342900" algn="l">
              <a:buSzPct val="100000"/>
              <a:buChar char="•"/>
            </a:pPr>
            <a:r>
              <a:rPr lang="en-US" sz="17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Viktorina</a:t>
            </a: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экран викторины с кнопками ответов</a:t>
            </a:r>
            <a:endParaRPr lang="en-US" sz="1700" dirty="0"/>
          </a:p>
          <a:p>
            <a:pPr marL="342900" indent="-342900" algn="l">
              <a:buSzPct val="100000"/>
              <a:buChar char="•"/>
            </a:pPr>
            <a:r>
              <a:rPr lang="en-US" sz="17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</a:t>
            </a: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панель результатов с подсчётом очков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900203" y="5690687"/>
            <a:ext cx="6814697" cy="2347994"/>
          </a:xfrm>
          <a:prstGeom prst="roundRect">
            <a:avLst>
              <a:gd name="adj" fmla="val 1326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036323" y="5733784"/>
            <a:ext cx="5841108" cy="254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Ключевые технические решения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312185" y="6126613"/>
            <a:ext cx="6402715" cy="1364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Render Mode: Screen Space — Camera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UI Scale Mode: Scale With Screen Size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Reference Resolution: 1920×1080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Шрифт: Roboto-Bold SDF (поддержка кириллицы)</a:t>
            </a:r>
            <a:endParaRPr lang="en-US" sz="2000" dirty="0"/>
          </a:p>
          <a:p>
            <a:pPr marL="342900" indent="-342900" algn="l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Дублирование панелей через Ctrl+D для ускорения разработки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1" y="363976"/>
            <a:ext cx="8491538" cy="521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4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Написание скриптов и управление звуком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57126" y="1118484"/>
            <a:ext cx="3896678" cy="26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Основной скрипт викторины (Game.cs)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7126" y="1492222"/>
            <a:ext cx="6346092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Скрипт управляет всей логикой викторины: генерацией вопросов, переходом между сценами и подсчётом результатов. Использованы библиотеки TMPro, UnityEngine.UI, EventSystem и SceneManager.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57126" y="2914022"/>
            <a:ext cx="6346092" cy="277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20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Test[] tests</a:t>
            </a: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база данных вопросов с правильными и неправильными ответами</a:t>
            </a:r>
            <a:endParaRPr lang="en-US" sz="2000" dirty="0"/>
          </a:p>
          <a:p>
            <a:pPr marL="342900" indent="-342900" algn="just">
              <a:buSzPct val="100000"/>
              <a:buChar char="•"/>
            </a:pPr>
            <a:r>
              <a:rPr lang="en-US" sz="20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NextQuestion()</a:t>
            </a: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загрузка следующего вопроса с рандомизацией позиций ответов</a:t>
            </a:r>
            <a:endParaRPr lang="en-US" sz="2000" dirty="0"/>
          </a:p>
          <a:p>
            <a:pPr marL="342900" indent="-342900" algn="just">
              <a:buSzPct val="100000"/>
              <a:buChar char="•"/>
            </a:pPr>
            <a:r>
              <a:rPr lang="en-US" sz="20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LevelComplete()</a:t>
            </a: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обработка выбора ответа, подсветка правильным цветом, задержка 1 сек</a:t>
            </a:r>
            <a:endParaRPr lang="en-US" sz="2000" dirty="0"/>
          </a:p>
          <a:p>
            <a:pPr marL="342900" indent="-342900" algn="just">
              <a:buSzPct val="100000"/>
              <a:buChar char="•"/>
            </a:pPr>
            <a:r>
              <a:rPr lang="en-US" sz="20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GameResult()</a:t>
            </a: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отображение финального счёта</a:t>
            </a:r>
            <a:endParaRPr lang="en-US" sz="2000" dirty="0"/>
          </a:p>
          <a:p>
            <a:pPr marL="342900" indent="-342900" algn="just">
              <a:buSzPct val="100000"/>
              <a:buChar char="•"/>
            </a:pPr>
            <a:r>
              <a:rPr lang="en-US" sz="20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RandomAnswerNumber()</a:t>
            </a: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случайное распределение ответов по кнопкам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51846" y="5917406"/>
            <a:ext cx="5951371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рандомизации использованы три переменные (randomK, randomJ, randomI), обеспечивающие случайное расположение правильного и неправильных ответов на кнопках.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902415" y="1118484"/>
            <a:ext cx="5853777" cy="6246957"/>
          </a:xfrm>
          <a:prstGeom prst="roundRect">
            <a:avLst>
              <a:gd name="adj" fmla="val 583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069342" y="1231356"/>
            <a:ext cx="3904417" cy="26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Звуковой менеджер (SoundManager.cs)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069342" y="1602349"/>
            <a:ext cx="5556223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Скрипт обеспечивает непрерывное воспроизведение фоновой музыки при переключении сцен и управление громкостью через UI-слайдер.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51192" y="3018059"/>
            <a:ext cx="5556222" cy="21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Awake()</a:t>
            </a: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загрузка сохранённой громкости из PlayerPrefs или установка значения по умолчанию (0.5)</a:t>
            </a:r>
            <a:endParaRPr lang="en-US" sz="2000" dirty="0"/>
          </a:p>
          <a:p>
            <a:pPr marL="342900" indent="-342900" algn="just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LateUpdate()</a:t>
            </a: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отслеживание изменений слайдера в реальном времени</a:t>
            </a:r>
            <a:endParaRPr lang="en-US" sz="2000" dirty="0"/>
          </a:p>
          <a:p>
            <a:pPr marL="342900" indent="-342900" algn="just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Сохранение настроек</a:t>
            </a: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значение громкости сохраняется между сеансами</a:t>
            </a:r>
            <a:endParaRPr lang="en-US" sz="2000" dirty="0"/>
          </a:p>
          <a:p>
            <a:pPr marL="342900" indent="-342900" algn="just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Отображение</a:t>
            </a:r>
            <a:r>
              <a:rPr lang="en-US" sz="2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текстовое поле показывает громкость в процентах</a:t>
            </a:r>
            <a:endParaRPr lang="en-US" sz="20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DE4E354-C513-4BF4-89A9-352674AEF224}"/>
              </a:ext>
            </a:extLst>
          </p:cNvPr>
          <p:cNvSpPr/>
          <p:nvPr/>
        </p:nvSpPr>
        <p:spPr>
          <a:xfrm>
            <a:off x="12701116" y="7636747"/>
            <a:ext cx="1848897" cy="5124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A7C445F-9728-4EFB-A8D5-82D364FA8D88}"/>
              </a:ext>
            </a:extLst>
          </p:cNvPr>
          <p:cNvSpPr/>
          <p:nvPr/>
        </p:nvSpPr>
        <p:spPr>
          <a:xfrm>
            <a:off x="12701116" y="7636747"/>
            <a:ext cx="1848897" cy="5124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E77802-11F8-40B4-8EE3-55478A562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33" y="1343777"/>
            <a:ext cx="3486637" cy="511404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7B05E1B-B693-4EF1-B50F-61F10DBE9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788" y="1320182"/>
            <a:ext cx="2778300" cy="514586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0C4905C-DD1D-4F71-984D-EC49109E1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9805" y="1320182"/>
            <a:ext cx="2778299" cy="520794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C62E994-37B2-4D49-8840-B1DA0154E0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9754" y="1343777"/>
            <a:ext cx="2457405" cy="51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25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BADA934-BDD7-4E9D-9DFE-A72005313658}"/>
              </a:ext>
            </a:extLst>
          </p:cNvPr>
          <p:cNvSpPr/>
          <p:nvPr/>
        </p:nvSpPr>
        <p:spPr>
          <a:xfrm>
            <a:off x="12701116" y="7636747"/>
            <a:ext cx="1848897" cy="5124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BCF000E-E715-4B44-A76C-40D2329AD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2915" y="1373667"/>
            <a:ext cx="2769769" cy="580472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2BA1911-BED1-4258-84E4-4675DD7EB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984" y="1373667"/>
            <a:ext cx="2587502" cy="563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720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5047" y="595327"/>
            <a:ext cx="3861911" cy="44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40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Заключение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1021361" y="1136659"/>
            <a:ext cx="5841663" cy="4681337"/>
          </a:xfrm>
          <a:prstGeom prst="roundRect">
            <a:avLst>
              <a:gd name="adj" fmla="val 2786"/>
            </a:avLst>
          </a:prstGeom>
          <a:solidFill>
            <a:srgbClr val="292C32"/>
          </a:solidFill>
          <a:ln w="1524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1006121" y="1136659"/>
            <a:ext cx="139392" cy="4681337"/>
          </a:xfrm>
          <a:prstGeom prst="roundRect">
            <a:avLst>
              <a:gd name="adj" fmla="val 34696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1223291" y="1150568"/>
            <a:ext cx="5044796" cy="4667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 ходе выполнения работы была достигнута поставленная цель – разработано кроссплатформенное приложение-викторина «Якутские пословицы и поговорки» на базе игрового движка Unity. Актуальность темы обусловлена необходимостью поиска новых цифровых форматов для передачи культурного наследия народа саха молодёжи, которая всё больше времени проводит в мобильной среде. Предложенное приложение сочетает образовательную и игровую функции, что позволяет повысить мотивацию к изучению якутских пословиц.</a:t>
            </a:r>
            <a:endParaRPr lang="en-US" sz="20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4CDF999-CCE7-4CB0-B1B2-24791AED9E11}"/>
              </a:ext>
            </a:extLst>
          </p:cNvPr>
          <p:cNvSpPr/>
          <p:nvPr/>
        </p:nvSpPr>
        <p:spPr>
          <a:xfrm>
            <a:off x="12701116" y="7636747"/>
            <a:ext cx="1848897" cy="51246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4E14DC2D-A06B-4BB0-B566-3CA15AD4B064}"/>
              </a:ext>
            </a:extLst>
          </p:cNvPr>
          <p:cNvSpPr/>
          <p:nvPr/>
        </p:nvSpPr>
        <p:spPr>
          <a:xfrm>
            <a:off x="7113270" y="1167347"/>
            <a:ext cx="5841663" cy="4681337"/>
          </a:xfrm>
          <a:prstGeom prst="roundRect">
            <a:avLst>
              <a:gd name="adj" fmla="val 2786"/>
            </a:avLst>
          </a:prstGeom>
          <a:solidFill>
            <a:srgbClr val="292C32"/>
          </a:solidFill>
          <a:ln w="1524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46C41FFA-86D0-4CB8-BEC1-64CE0307BA77}"/>
              </a:ext>
            </a:extLst>
          </p:cNvPr>
          <p:cNvSpPr/>
          <p:nvPr/>
        </p:nvSpPr>
        <p:spPr>
          <a:xfrm>
            <a:off x="7098030" y="1167347"/>
            <a:ext cx="139392" cy="4681337"/>
          </a:xfrm>
          <a:prstGeom prst="roundRect">
            <a:avLst>
              <a:gd name="adj" fmla="val 34696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4A86DD21-28CD-41F9-927B-5EC709EC527D}"/>
              </a:ext>
            </a:extLst>
          </p:cNvPr>
          <p:cNvSpPr/>
          <p:nvPr/>
        </p:nvSpPr>
        <p:spPr>
          <a:xfrm>
            <a:off x="7315200" y="1181256"/>
            <a:ext cx="5044796" cy="2480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Таким образом, выдвинутая в начале работы гипотеза подтвердилась: разработка кроссплатформенного мобильного приложения-викторины на базе </a:t>
            </a:r>
            <a:r>
              <a:rPr lang="ru-RU" sz="20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Unity</a:t>
            </a:r>
            <a:r>
              <a:rPr lang="ru-RU" sz="2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содержащего систематизированную базу якутских пословиц с их толкованием, действительно способна повысить интерес молодёжи к изучению родного языка и культурного наследия.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1474</Words>
  <Application>Microsoft Office PowerPoint</Application>
  <PresentationFormat>Произвольный</PresentationFormat>
  <Paragraphs>159</Paragraphs>
  <Slides>13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Roboto</vt:lpstr>
      <vt:lpstr>Arial</vt:lpstr>
      <vt:lpstr>IBM Plex Sans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</dc:creator>
  <cp:lastModifiedBy>of92</cp:lastModifiedBy>
  <cp:revision>14</cp:revision>
  <dcterms:created xsi:type="dcterms:W3CDTF">2026-04-05T14:50:39Z</dcterms:created>
  <dcterms:modified xsi:type="dcterms:W3CDTF">2026-04-30T01:39:12Z</dcterms:modified>
</cp:coreProperties>
</file>